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 id="270" r:id="rId16"/>
    <p:sldId id="275" r:id="rId17"/>
    <p:sldId id="271" r:id="rId18"/>
    <p:sldId id="272" r:id="rId19"/>
    <p:sldId id="273" r:id="rId20"/>
    <p:sldId id="274" r:id="rId21"/>
    <p:sldId id="276" r:id="rId22"/>
    <p:sldId id="282" r:id="rId23"/>
    <p:sldId id="278" r:id="rId24"/>
    <p:sldId id="279" r:id="rId25"/>
    <p:sldId id="280" r:id="rId26"/>
    <p:sldId id="283" r:id="rId27"/>
    <p:sldId id="281" r:id="rId28"/>
    <p:sldId id="284" r:id="rId29"/>
    <p:sldId id="285" r:id="rId30"/>
    <p:sldId id="286"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161" d="100"/>
          <a:sy n="161" d="100"/>
        </p:scale>
        <p:origin x="150"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smtClean="0"/>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smtClean="0"/>
              <a:t>Click to edit Master subtitle style</a:t>
            </a:r>
            <a:endParaRPr lang="zh-CN" altLang="en-US"/>
          </a:p>
        </p:txBody>
      </p:sp>
      <p:sp>
        <p:nvSpPr>
          <p:cNvPr id="4" name="Date Placeholder 3"/>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404335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Content Placeholder 2"/>
          <p:cNvSpPr>
            <a:spLocks noGrp="1"/>
          </p:cNvSpPr>
          <p:nvPr>
            <p:ph idx="1"/>
          </p:nvPr>
        </p:nvSpPr>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Date Placeholder 3"/>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94229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smtClean="0"/>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smtClean="0"/>
              <a:t>Click to edit Master text styles</a:t>
            </a:r>
          </a:p>
        </p:txBody>
      </p:sp>
      <p:sp>
        <p:nvSpPr>
          <p:cNvPr id="4" name="Date Placeholder 3"/>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1866301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5" name="Date Placeholder 4"/>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3659777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smtClean="0"/>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7" name="Date Placeholder 6"/>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3784711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Date Placeholder 2"/>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4078139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979274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smtClean="0"/>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smtClean="0"/>
              <a:t>Click to edit Master text styles</a:t>
            </a:r>
          </a:p>
        </p:txBody>
      </p:sp>
      <p:sp>
        <p:nvSpPr>
          <p:cNvPr id="5" name="Date Placeholder 4"/>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3902332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smtClean="0"/>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smtClean="0"/>
              <a:t>Click to edit Master text styles</a:t>
            </a:r>
          </a:p>
        </p:txBody>
      </p:sp>
      <p:sp>
        <p:nvSpPr>
          <p:cNvPr id="5" name="Date Placeholder 4"/>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1469913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Date Placeholder 3"/>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3984399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smtClean="0"/>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Date Placeholder 3"/>
          <p:cNvSpPr>
            <a:spLocks noGrp="1"/>
          </p:cNvSpPr>
          <p:nvPr>
            <p:ph type="dt" sz="half" idx="10"/>
          </p:nvPr>
        </p:nvSpPr>
        <p:spPr/>
        <p:txBody>
          <a:bodyPr/>
          <a:lstStyle/>
          <a:p>
            <a:fld id="{ED84D50A-438D-42E9-9269-9EE27449DB16}" type="datetimeFigureOut">
              <a:rPr lang="zh-CN" altLang="en-US" smtClean="0"/>
              <a:t>2021/11/1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3807675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smtClean="0"/>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84D50A-438D-42E9-9269-9EE27449DB16}" type="datetimeFigureOut">
              <a:rPr lang="zh-CN" altLang="en-US" smtClean="0"/>
              <a:t>2021/11/1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D2BD78-CF75-4BAE-9777-05DE0E00ACF6}" type="slidenum">
              <a:rPr lang="zh-CN" altLang="en-US" smtClean="0"/>
              <a:t>‹#›</a:t>
            </a:fld>
            <a:endParaRPr lang="zh-CN" altLang="en-US"/>
          </a:p>
        </p:txBody>
      </p:sp>
    </p:spTree>
    <p:extLst>
      <p:ext uri="{BB962C8B-B14F-4D97-AF65-F5344CB8AC3E}">
        <p14:creationId xmlns:p14="http://schemas.microsoft.com/office/powerpoint/2010/main" val="1761341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smtClean="0"/>
              <a:t>Data Science Research</a:t>
            </a:r>
            <a:endParaRPr lang="zh-CN" altLang="en-US" dirty="0"/>
          </a:p>
        </p:txBody>
      </p:sp>
      <p:sp>
        <p:nvSpPr>
          <p:cNvPr id="3" name="Subtitle 2"/>
          <p:cNvSpPr>
            <a:spLocks noGrp="1"/>
          </p:cNvSpPr>
          <p:nvPr>
            <p:ph type="subTitle" idx="1"/>
          </p:nvPr>
        </p:nvSpPr>
        <p:spPr/>
        <p:txBody>
          <a:bodyPr/>
          <a:lstStyle/>
          <a:p>
            <a:r>
              <a:rPr lang="en-US" altLang="zh-CN" dirty="0" smtClean="0"/>
              <a:t>Ting Yao</a:t>
            </a:r>
            <a:endParaRPr lang="zh-CN" altLang="en-US" dirty="0"/>
          </a:p>
        </p:txBody>
      </p:sp>
    </p:spTree>
    <p:extLst>
      <p:ext uri="{BB962C8B-B14F-4D97-AF65-F5344CB8AC3E}">
        <p14:creationId xmlns:p14="http://schemas.microsoft.com/office/powerpoint/2010/main" val="311481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Data Description</a:t>
            </a:r>
            <a:endParaRPr lang="zh-CN" altLang="en-US" dirty="0"/>
          </a:p>
        </p:txBody>
      </p:sp>
      <p:sp>
        <p:nvSpPr>
          <p:cNvPr id="3" name="Content Placeholder 2"/>
          <p:cNvSpPr>
            <a:spLocks noGrp="1"/>
          </p:cNvSpPr>
          <p:nvPr>
            <p:ph idx="1"/>
          </p:nvPr>
        </p:nvSpPr>
        <p:spPr/>
        <p:txBody>
          <a:bodyPr>
            <a:normAutofit fontScale="55000" lnSpcReduction="20000"/>
          </a:bodyPr>
          <a:lstStyle/>
          <a:p>
            <a:r>
              <a:rPr lang="en-US" altLang="zh-CN" dirty="0"/>
              <a:t>ID: ID Number of Customers.</a:t>
            </a:r>
          </a:p>
          <a:p>
            <a:r>
              <a:rPr lang="en-US" altLang="zh-CN" dirty="0"/>
              <a:t>Warehouse block:- The Company have big Warehouse which is divided in to block such as A,B,C,D,E.</a:t>
            </a:r>
          </a:p>
          <a:p>
            <a:r>
              <a:rPr lang="en-US" altLang="zh-CN" dirty="0"/>
              <a:t>Mode of shipment:-The Company Ships the products in multiple way such as Ship, Flight and Road.</a:t>
            </a:r>
          </a:p>
          <a:p>
            <a:r>
              <a:rPr lang="en-US" altLang="zh-CN" dirty="0"/>
              <a:t>Customer care calls:- The number of calls made from enquiry for enquiry of the shipment.</a:t>
            </a:r>
          </a:p>
          <a:p>
            <a:r>
              <a:rPr lang="en-US" altLang="zh-CN" dirty="0"/>
              <a:t>Customer rating:- The company has rated from every customer. 1 is the lowest (Worst), 5 is the highest (Best).</a:t>
            </a:r>
          </a:p>
          <a:p>
            <a:r>
              <a:rPr lang="en-US" altLang="zh-CN" dirty="0"/>
              <a:t>Cost of the product-: Cost of the Product in US Dollars.</a:t>
            </a:r>
          </a:p>
          <a:p>
            <a:r>
              <a:rPr lang="en-US" altLang="zh-CN" dirty="0"/>
              <a:t>Prior purchases:- The Number of Prior Purchase.</a:t>
            </a:r>
          </a:p>
          <a:p>
            <a:r>
              <a:rPr lang="en-US" altLang="zh-CN" dirty="0"/>
              <a:t>Product importance:- The company has categorized the product in the various parameter such as low, medium, high.</a:t>
            </a:r>
          </a:p>
          <a:p>
            <a:r>
              <a:rPr lang="en-US" altLang="zh-CN" dirty="0"/>
              <a:t>Gender:- Male and Female.</a:t>
            </a:r>
          </a:p>
          <a:p>
            <a:r>
              <a:rPr lang="en-US" altLang="zh-CN" dirty="0"/>
              <a:t>Discount offered:- Discount offered on that specific product.</a:t>
            </a:r>
          </a:p>
          <a:p>
            <a:r>
              <a:rPr lang="en-US" altLang="zh-CN" dirty="0"/>
              <a:t>Weight in </a:t>
            </a:r>
            <a:r>
              <a:rPr lang="en-US" altLang="zh-CN" dirty="0" err="1"/>
              <a:t>gms</a:t>
            </a:r>
            <a:r>
              <a:rPr lang="en-US" altLang="zh-CN" dirty="0"/>
              <a:t>:- It is the weight in grams.</a:t>
            </a:r>
          </a:p>
          <a:p>
            <a:r>
              <a:rPr lang="en-US" altLang="zh-CN" dirty="0"/>
              <a:t>Reached on time:- It is the target variable, where 1 Indicates that the product has NOT reached on time and 0 indicates it has reached on time.</a:t>
            </a:r>
          </a:p>
          <a:p>
            <a:endParaRPr lang="zh-CN" altLang="en-US" dirty="0"/>
          </a:p>
        </p:txBody>
      </p:sp>
    </p:spTree>
    <p:extLst>
      <p:ext uri="{BB962C8B-B14F-4D97-AF65-F5344CB8AC3E}">
        <p14:creationId xmlns:p14="http://schemas.microsoft.com/office/powerpoint/2010/main" val="3628428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smtClean="0"/>
              <a:t>Countplot</a:t>
            </a:r>
            <a:r>
              <a:rPr lang="en-US" altLang="zh-CN" dirty="0"/>
              <a:t> </a:t>
            </a:r>
            <a:r>
              <a:rPr lang="en-US" altLang="zh-CN" dirty="0" smtClean="0"/>
              <a:t>For Categorical Variable</a:t>
            </a:r>
            <a:endParaRPr lang="zh-CN" altLang="en-US" dirty="0"/>
          </a:p>
        </p:txBody>
      </p:sp>
      <p:pic>
        <p:nvPicPr>
          <p:cNvPr id="6" name="Content Placeholder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r="-2206" b="49122"/>
          <a:stretch/>
        </p:blipFill>
        <p:spPr>
          <a:xfrm>
            <a:off x="600694" y="1855331"/>
            <a:ext cx="5083788" cy="4233553"/>
          </a:xfrm>
        </p:spPr>
      </p:pic>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1" t="51169" r="-742"/>
          <a:stretch/>
        </p:blipFill>
        <p:spPr>
          <a:xfrm>
            <a:off x="5684482" y="1962208"/>
            <a:ext cx="5089152" cy="4126676"/>
          </a:xfrm>
          <a:prstGeom prst="rect">
            <a:avLst/>
          </a:prstGeom>
        </p:spPr>
      </p:pic>
    </p:spTree>
    <p:extLst>
      <p:ext uri="{BB962C8B-B14F-4D97-AF65-F5344CB8AC3E}">
        <p14:creationId xmlns:p14="http://schemas.microsoft.com/office/powerpoint/2010/main" val="812517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Summary of the </a:t>
            </a:r>
            <a:r>
              <a:rPr lang="en-US" altLang="zh-CN" dirty="0" err="1" smtClean="0"/>
              <a:t>Countplot</a:t>
            </a:r>
            <a:endParaRPr lang="zh-CN" altLang="en-US" dirty="0"/>
          </a:p>
        </p:txBody>
      </p:sp>
      <p:sp>
        <p:nvSpPr>
          <p:cNvPr id="3" name="Content Placeholder 2"/>
          <p:cNvSpPr>
            <a:spLocks noGrp="1"/>
          </p:cNvSpPr>
          <p:nvPr>
            <p:ph idx="1"/>
          </p:nvPr>
        </p:nvSpPr>
        <p:spPr/>
        <p:txBody>
          <a:bodyPr>
            <a:normAutofit/>
          </a:bodyPr>
          <a:lstStyle/>
          <a:p>
            <a:r>
              <a:rPr lang="en-US" altLang="zh-CN" dirty="0"/>
              <a:t>Warehouse block F </a:t>
            </a:r>
            <a:r>
              <a:rPr lang="en-US" altLang="zh-CN" dirty="0" smtClean="0"/>
              <a:t>has the most shipment among all warehouses.</a:t>
            </a:r>
            <a:endParaRPr lang="en-US" altLang="zh-CN" dirty="0"/>
          </a:p>
          <a:p>
            <a:r>
              <a:rPr lang="en-US" altLang="zh-CN" dirty="0" smtClean="0"/>
              <a:t>Most of the products are deliver by ship.</a:t>
            </a:r>
            <a:endParaRPr lang="en-US" altLang="zh-CN" dirty="0"/>
          </a:p>
          <a:p>
            <a:r>
              <a:rPr lang="en-US" altLang="zh-CN" dirty="0"/>
              <a:t>Most of the customers calls 3 or 4 times to the customer care centers.</a:t>
            </a:r>
          </a:p>
          <a:p>
            <a:r>
              <a:rPr lang="en-US" altLang="zh-CN" dirty="0"/>
              <a:t>Customer Ratings does not have much variation.</a:t>
            </a:r>
          </a:p>
          <a:p>
            <a:r>
              <a:rPr lang="en-US" altLang="zh-CN" dirty="0"/>
              <a:t>Most of the customers have 3 prior purchases.</a:t>
            </a:r>
          </a:p>
          <a:p>
            <a:r>
              <a:rPr lang="en-US" altLang="zh-CN" dirty="0" smtClean="0"/>
              <a:t>Most of </a:t>
            </a:r>
            <a:r>
              <a:rPr lang="en-US" altLang="zh-CN" dirty="0"/>
              <a:t>the products are of low </a:t>
            </a:r>
            <a:r>
              <a:rPr lang="en-US" altLang="zh-CN" dirty="0" smtClean="0"/>
              <a:t>and medium Importance</a:t>
            </a:r>
            <a:r>
              <a:rPr lang="en-US" altLang="zh-CN" dirty="0"/>
              <a:t>.</a:t>
            </a:r>
          </a:p>
          <a:p>
            <a:r>
              <a:rPr lang="en-US" altLang="zh-CN" dirty="0"/>
              <a:t>Gender Column doesn't have much variance.</a:t>
            </a:r>
          </a:p>
          <a:p>
            <a:r>
              <a:rPr lang="en-US" altLang="zh-CN" dirty="0" smtClean="0"/>
              <a:t>There are more products that are not delivered on time.</a:t>
            </a:r>
            <a:endParaRPr lang="en-US" altLang="zh-CN" dirty="0"/>
          </a:p>
          <a:p>
            <a:endParaRPr lang="zh-CN" altLang="en-US" dirty="0"/>
          </a:p>
        </p:txBody>
      </p:sp>
    </p:spTree>
    <p:extLst>
      <p:ext uri="{BB962C8B-B14F-4D97-AF65-F5344CB8AC3E}">
        <p14:creationId xmlns:p14="http://schemas.microsoft.com/office/powerpoint/2010/main" val="39171419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Distribution Plot of Numerical Variables</a:t>
            </a:r>
            <a:endParaRPr lang="zh-CN" alt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50859"/>
            <a:ext cx="4013422" cy="2721243"/>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2481" y="1450859"/>
            <a:ext cx="3980570" cy="2721243"/>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3756" y="4172102"/>
            <a:ext cx="3725412" cy="2481943"/>
          </a:xfrm>
          <a:prstGeom prst="rect">
            <a:avLst/>
          </a:prstGeom>
        </p:spPr>
      </p:pic>
    </p:spTree>
    <p:extLst>
      <p:ext uri="{BB962C8B-B14F-4D97-AF65-F5344CB8AC3E}">
        <p14:creationId xmlns:p14="http://schemas.microsoft.com/office/powerpoint/2010/main" val="13939534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Summary of the Distribution Plot</a:t>
            </a:r>
            <a:endParaRPr lang="zh-CN" altLang="en-US" dirty="0"/>
          </a:p>
        </p:txBody>
      </p:sp>
      <p:sp>
        <p:nvSpPr>
          <p:cNvPr id="3" name="Content Placeholder 2"/>
          <p:cNvSpPr>
            <a:spLocks noGrp="1"/>
          </p:cNvSpPr>
          <p:nvPr>
            <p:ph idx="1"/>
          </p:nvPr>
        </p:nvSpPr>
        <p:spPr/>
        <p:txBody>
          <a:bodyPr/>
          <a:lstStyle/>
          <a:p>
            <a:r>
              <a:rPr lang="en-US" altLang="zh-CN" dirty="0" smtClean="0"/>
              <a:t>Most products cost from 130 to 275</a:t>
            </a:r>
          </a:p>
          <a:p>
            <a:r>
              <a:rPr lang="en-US" altLang="zh-CN" dirty="0" smtClean="0"/>
              <a:t>Most discounts offered are in the range of 0% to 10%</a:t>
            </a:r>
          </a:p>
          <a:p>
            <a:r>
              <a:rPr lang="en-US" altLang="zh-CN" dirty="0" smtClean="0"/>
              <a:t>Most products weighs from 1000 grams to 2000 grams and from 4000 grams to 6000 grams</a:t>
            </a:r>
            <a:endParaRPr lang="zh-CN" altLang="en-US" dirty="0"/>
          </a:p>
        </p:txBody>
      </p:sp>
    </p:spTree>
    <p:extLst>
      <p:ext uri="{BB962C8B-B14F-4D97-AF65-F5344CB8AC3E}">
        <p14:creationId xmlns:p14="http://schemas.microsoft.com/office/powerpoint/2010/main" val="453141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Variable Correlation Heat Map</a:t>
            </a:r>
            <a:endParaRPr lang="zh-CN" alt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329" y="1825625"/>
            <a:ext cx="5638671" cy="4351338"/>
          </a:xfrm>
        </p:spPr>
      </p:pic>
      <p:sp>
        <p:nvSpPr>
          <p:cNvPr id="5" name="TextBox 4"/>
          <p:cNvSpPr txBox="1"/>
          <p:nvPr/>
        </p:nvSpPr>
        <p:spPr>
          <a:xfrm>
            <a:off x="6489865" y="2293134"/>
            <a:ext cx="4791693" cy="341632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Cost of the product is moderately correlated to </a:t>
            </a:r>
            <a:r>
              <a:rPr lang="en-US" altLang="zh-CN" dirty="0" smtClean="0"/>
              <a:t>customer </a:t>
            </a:r>
            <a:r>
              <a:rPr lang="en-US" altLang="zh-CN" dirty="0"/>
              <a:t>care calls with a value of 0.32 </a:t>
            </a:r>
            <a:endParaRPr lang="en-US" altLang="zh-CN" dirty="0" smtClean="0"/>
          </a:p>
          <a:p>
            <a:pPr marL="285750" indent="-285750">
              <a:buFont typeface="Arial" panose="020B0604020202020204" pitchFamily="34" charset="0"/>
              <a:buChar char="•"/>
            </a:pPr>
            <a:r>
              <a:rPr lang="en-US" altLang="zh-CN" dirty="0" smtClean="0"/>
              <a:t>Prior </a:t>
            </a:r>
            <a:r>
              <a:rPr lang="en-US" altLang="zh-CN" dirty="0"/>
              <a:t>purchases is slightly correlated to customer care calls with a value of 0.18 </a:t>
            </a:r>
            <a:endParaRPr lang="en-US" altLang="zh-CN" dirty="0" smtClean="0"/>
          </a:p>
          <a:p>
            <a:pPr marL="285750" indent="-285750">
              <a:buFont typeface="Arial" panose="020B0604020202020204" pitchFamily="34" charset="0"/>
              <a:buChar char="•"/>
            </a:pPr>
            <a:r>
              <a:rPr lang="en-US" altLang="zh-CN" dirty="0"/>
              <a:t>W</a:t>
            </a:r>
            <a:r>
              <a:rPr lang="en-US" altLang="zh-CN" dirty="0" smtClean="0"/>
              <a:t>eight </a:t>
            </a:r>
            <a:r>
              <a:rPr lang="en-US" altLang="zh-CN" dirty="0"/>
              <a:t>in grams is moderately correlated to customer care calls with a value of -0.28 </a:t>
            </a:r>
            <a:endParaRPr lang="en-US" altLang="zh-CN" dirty="0" smtClean="0"/>
          </a:p>
          <a:p>
            <a:pPr marL="285750" indent="-285750">
              <a:buFont typeface="Arial" panose="020B0604020202020204" pitchFamily="34" charset="0"/>
              <a:buChar char="•"/>
            </a:pPr>
            <a:r>
              <a:rPr lang="en-US" altLang="zh-CN" dirty="0"/>
              <a:t>W</a:t>
            </a:r>
            <a:r>
              <a:rPr lang="en-US" altLang="zh-CN" dirty="0" smtClean="0"/>
              <a:t>eight </a:t>
            </a:r>
            <a:r>
              <a:rPr lang="en-US" altLang="zh-CN" dirty="0"/>
              <a:t>in grams is moderately correlated to discount offered with a value of -0.38 </a:t>
            </a:r>
            <a:endParaRPr lang="en-US" altLang="zh-CN" dirty="0" smtClean="0"/>
          </a:p>
          <a:p>
            <a:pPr marL="285750" indent="-285750">
              <a:buFont typeface="Arial" panose="020B0604020202020204" pitchFamily="34" charset="0"/>
              <a:buChar char="•"/>
            </a:pPr>
            <a:r>
              <a:rPr lang="en-US" altLang="zh-CN" dirty="0"/>
              <a:t>R</a:t>
            </a:r>
            <a:r>
              <a:rPr lang="en-US" altLang="zh-CN" dirty="0" smtClean="0"/>
              <a:t>eached </a:t>
            </a:r>
            <a:r>
              <a:rPr lang="en-US" altLang="zh-CN" dirty="0"/>
              <a:t>on time is strongly </a:t>
            </a:r>
            <a:r>
              <a:rPr lang="en-US" altLang="zh-CN" dirty="0" smtClean="0"/>
              <a:t>correlated </a:t>
            </a:r>
            <a:r>
              <a:rPr lang="en-US" altLang="zh-CN" dirty="0"/>
              <a:t>to discount offered with a value of 0.40 </a:t>
            </a:r>
            <a:endParaRPr lang="en-US" altLang="zh-CN" dirty="0" smtClean="0"/>
          </a:p>
          <a:p>
            <a:pPr marL="285750" indent="-285750">
              <a:buFont typeface="Arial" panose="020B0604020202020204" pitchFamily="34" charset="0"/>
              <a:buChar char="•"/>
            </a:pPr>
            <a:r>
              <a:rPr lang="en-US" altLang="zh-CN" dirty="0"/>
              <a:t>R</a:t>
            </a:r>
            <a:r>
              <a:rPr lang="en-US" altLang="zh-CN" dirty="0" smtClean="0"/>
              <a:t>eached </a:t>
            </a:r>
            <a:r>
              <a:rPr lang="en-US" altLang="zh-CN" dirty="0"/>
              <a:t>on time is moderately </a:t>
            </a:r>
            <a:r>
              <a:rPr lang="en-US" altLang="zh-CN" dirty="0" smtClean="0"/>
              <a:t>correlated </a:t>
            </a:r>
            <a:r>
              <a:rPr lang="en-US" altLang="zh-CN" dirty="0"/>
              <a:t>to weight in grams with a value of -0.27</a:t>
            </a:r>
          </a:p>
        </p:txBody>
      </p:sp>
    </p:spTree>
    <p:extLst>
      <p:ext uri="{BB962C8B-B14F-4D97-AF65-F5344CB8AC3E}">
        <p14:creationId xmlns:p14="http://schemas.microsoft.com/office/powerpoint/2010/main" val="3519139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smtClean="0"/>
              <a:t>Relationship Between Cost of Product and Customer Care Calls</a:t>
            </a:r>
            <a:endParaRPr lang="zh-CN" alt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240" y="1306286"/>
            <a:ext cx="11575520" cy="3268720"/>
          </a:xfrm>
        </p:spPr>
      </p:pic>
      <p:sp>
        <p:nvSpPr>
          <p:cNvPr id="6" name="TextBox 5"/>
          <p:cNvSpPr txBox="1"/>
          <p:nvPr/>
        </p:nvSpPr>
        <p:spPr>
          <a:xfrm>
            <a:off x="570342" y="4485941"/>
            <a:ext cx="10883409" cy="2031325"/>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As the cost of product increases, the number of customer care calls increases as well.</a:t>
            </a:r>
          </a:p>
          <a:p>
            <a:pPr marL="285750" indent="-285750">
              <a:buFont typeface="Arial" panose="020B0604020202020204" pitchFamily="34" charset="0"/>
              <a:buChar char="•"/>
            </a:pPr>
            <a:r>
              <a:rPr lang="en-US" altLang="zh-CN" dirty="0" smtClean="0"/>
              <a:t>I think customers tend to care more about their purchases if the cost of the products is higher because they would like to receive products that can be justified by their prices.</a:t>
            </a:r>
          </a:p>
          <a:p>
            <a:pPr marL="285750" indent="-285750">
              <a:buFont typeface="Arial" panose="020B0604020202020204" pitchFamily="34" charset="0"/>
              <a:buChar char="•"/>
            </a:pPr>
            <a:r>
              <a:rPr lang="en-US" altLang="zh-CN" dirty="0" smtClean="0"/>
              <a:t>If the cost of product is low, customers tend to notice less about its flaws so the customer care calls might be fewer.</a:t>
            </a:r>
          </a:p>
          <a:p>
            <a:pPr marL="285750" indent="-285750">
              <a:buFont typeface="Arial" panose="020B0604020202020204" pitchFamily="34" charset="0"/>
              <a:buChar char="•"/>
            </a:pPr>
            <a:r>
              <a:rPr lang="en-US" altLang="zh-CN" dirty="0" smtClean="0"/>
              <a:t>My suggestion to the company is to spend more on ensuring the quality of all products to make cost of customer services lower</a:t>
            </a:r>
            <a:endParaRPr lang="zh-CN" altLang="en-US" dirty="0"/>
          </a:p>
        </p:txBody>
      </p:sp>
    </p:spTree>
    <p:extLst>
      <p:ext uri="{BB962C8B-B14F-4D97-AF65-F5344CB8AC3E}">
        <p14:creationId xmlns:p14="http://schemas.microsoft.com/office/powerpoint/2010/main" val="3791231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smtClean="0"/>
              <a:t>Relationship Between Prior Purchases and Customer Care Calls</a:t>
            </a:r>
            <a:endParaRPr lang="zh-CN" alt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263" y="1766249"/>
            <a:ext cx="6233707" cy="4351338"/>
          </a:xfrm>
        </p:spPr>
      </p:pic>
      <p:sp>
        <p:nvSpPr>
          <p:cNvPr id="5" name="TextBox 4"/>
          <p:cNvSpPr txBox="1"/>
          <p:nvPr/>
        </p:nvSpPr>
        <p:spPr>
          <a:xfrm>
            <a:off x="6875813" y="3348841"/>
            <a:ext cx="4708566"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The number of customer care calls are relatively similar among all numbers of prior purchases, so I do not think the two variables are correlated.</a:t>
            </a:r>
            <a:endParaRPr lang="zh-CN" altLang="en-US" dirty="0"/>
          </a:p>
        </p:txBody>
      </p:sp>
    </p:spTree>
    <p:extLst>
      <p:ext uri="{BB962C8B-B14F-4D97-AF65-F5344CB8AC3E}">
        <p14:creationId xmlns:p14="http://schemas.microsoft.com/office/powerpoint/2010/main" val="3440679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2800" dirty="0" smtClean="0"/>
              <a:t>Relationship Between Weights in Gram and Customer Care Calls</a:t>
            </a:r>
            <a:endParaRPr lang="zh-CN" alt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515600" cy="2949467"/>
          </a:xfrm>
        </p:spPr>
      </p:pic>
      <p:sp>
        <p:nvSpPr>
          <p:cNvPr id="5" name="TextBox 4"/>
          <p:cNvSpPr txBox="1"/>
          <p:nvPr/>
        </p:nvSpPr>
        <p:spPr>
          <a:xfrm>
            <a:off x="838200" y="4574840"/>
            <a:ext cx="10217727" cy="92333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Products of low weights tend to get more customer care calls.</a:t>
            </a:r>
          </a:p>
          <a:p>
            <a:pPr marL="285750" indent="-285750">
              <a:buFont typeface="Arial" panose="020B0604020202020204" pitchFamily="34" charset="0"/>
              <a:buChar char="•"/>
            </a:pPr>
            <a:r>
              <a:rPr lang="en-US" altLang="zh-CN" dirty="0" smtClean="0"/>
              <a:t>I think lighter and smaller products tend to get lost easier than larger products.</a:t>
            </a:r>
          </a:p>
          <a:p>
            <a:pPr marL="285750" indent="-285750">
              <a:buFont typeface="Arial" panose="020B0604020202020204" pitchFamily="34" charset="0"/>
              <a:buChar char="•"/>
            </a:pPr>
            <a:r>
              <a:rPr lang="en-US" altLang="zh-CN" dirty="0" smtClean="0"/>
              <a:t>The company should design stricter procedures for shipping to prevent products from missing.</a:t>
            </a:r>
            <a:endParaRPr lang="zh-CN" altLang="en-US" dirty="0"/>
          </a:p>
        </p:txBody>
      </p:sp>
    </p:spTree>
    <p:extLst>
      <p:ext uri="{BB962C8B-B14F-4D97-AF65-F5344CB8AC3E}">
        <p14:creationId xmlns:p14="http://schemas.microsoft.com/office/powerpoint/2010/main" val="3074088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smtClean="0"/>
              <a:t>Relationship Between Discount Offered and Weights in Grams</a:t>
            </a:r>
            <a:endParaRPr lang="zh-CN" alt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130" y="1795936"/>
            <a:ext cx="6374404" cy="4351338"/>
          </a:xfrm>
        </p:spPr>
      </p:pic>
      <p:sp>
        <p:nvSpPr>
          <p:cNvPr id="5" name="TextBox 4"/>
          <p:cNvSpPr txBox="1"/>
          <p:nvPr/>
        </p:nvSpPr>
        <p:spPr>
          <a:xfrm>
            <a:off x="7166758" y="2677885"/>
            <a:ext cx="4187042" cy="2585323"/>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Larger products get less discount.</a:t>
            </a:r>
          </a:p>
          <a:p>
            <a:pPr marL="285750" indent="-285750">
              <a:buFont typeface="Arial" panose="020B0604020202020204" pitchFamily="34" charset="0"/>
              <a:buChar char="•"/>
            </a:pPr>
            <a:r>
              <a:rPr lang="en-US" altLang="zh-CN" dirty="0" smtClean="0"/>
              <a:t>It might be because the cost of manufacturing and shipping larger products are a lot higher so the revenue generated might be limited.</a:t>
            </a:r>
          </a:p>
          <a:p>
            <a:pPr marL="285750" indent="-285750">
              <a:buFont typeface="Arial" panose="020B0604020202020204" pitchFamily="34" charset="0"/>
              <a:buChar char="•"/>
            </a:pPr>
            <a:r>
              <a:rPr lang="en-US" altLang="zh-CN" dirty="0" smtClean="0"/>
              <a:t>To get more sales in large products, the company could try to a bigger to discount for some events and ship them together to lower the cost.</a:t>
            </a:r>
            <a:endParaRPr lang="zh-CN" altLang="en-US" dirty="0"/>
          </a:p>
        </p:txBody>
      </p:sp>
    </p:spTree>
    <p:extLst>
      <p:ext uri="{BB962C8B-B14F-4D97-AF65-F5344CB8AC3E}">
        <p14:creationId xmlns:p14="http://schemas.microsoft.com/office/powerpoint/2010/main" val="3995856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2800" dirty="0" smtClean="0"/>
              <a:t>Relationship Between Discount Offered and Cost of the Product</a:t>
            </a:r>
            <a:endParaRPr lang="zh-CN" alt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6322084" cy="4351338"/>
          </a:xfrm>
        </p:spPr>
      </p:pic>
      <p:sp>
        <p:nvSpPr>
          <p:cNvPr id="5" name="TextBox 4"/>
          <p:cNvSpPr txBox="1"/>
          <p:nvPr/>
        </p:nvSpPr>
        <p:spPr>
          <a:xfrm>
            <a:off x="7433953" y="3539629"/>
            <a:ext cx="3996047" cy="92333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Products that have the lowest discount rate tends to be the most expensive products.</a:t>
            </a:r>
            <a:endParaRPr lang="zh-CN" altLang="en-US" dirty="0"/>
          </a:p>
        </p:txBody>
      </p:sp>
    </p:spTree>
    <p:extLst>
      <p:ext uri="{BB962C8B-B14F-4D97-AF65-F5344CB8AC3E}">
        <p14:creationId xmlns:p14="http://schemas.microsoft.com/office/powerpoint/2010/main" val="2564063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smtClean="0"/>
              <a:t>Relationship Between Reached On Time and Discount Offered</a:t>
            </a:r>
            <a:endParaRPr lang="zh-CN" alt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7933" y="1311603"/>
            <a:ext cx="10864932" cy="3206957"/>
          </a:xfrm>
        </p:spPr>
      </p:pic>
      <p:sp>
        <p:nvSpPr>
          <p:cNvPr id="5" name="TextBox 4"/>
          <p:cNvSpPr txBox="1"/>
          <p:nvPr/>
        </p:nvSpPr>
        <p:spPr>
          <a:xfrm>
            <a:off x="718457" y="4471059"/>
            <a:ext cx="10462161" cy="1477328"/>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Most products that are not delivered on time are the ones that have higher discount rate.</a:t>
            </a:r>
          </a:p>
          <a:p>
            <a:pPr marL="285750" indent="-285750">
              <a:buFont typeface="Arial" panose="020B0604020202020204" pitchFamily="34" charset="0"/>
              <a:buChar char="•"/>
            </a:pPr>
            <a:r>
              <a:rPr lang="en-US" altLang="zh-CN" dirty="0" smtClean="0"/>
              <a:t>This boxplot verifies my previous point that to make more profits on discounted products, the company would wait for all products to ship together to save cost of shipping.</a:t>
            </a:r>
          </a:p>
          <a:p>
            <a:pPr marL="285750" indent="-285750">
              <a:buFont typeface="Arial" panose="020B0604020202020204" pitchFamily="34" charset="0"/>
              <a:buChar char="•"/>
            </a:pPr>
            <a:r>
              <a:rPr lang="en-US" altLang="zh-CN" dirty="0" smtClean="0"/>
              <a:t>We can tell from previous graphs that products that have low discount rates tend to be larger and more expensive. The more expensive shipping plan might help the products to deliver on time as well.</a:t>
            </a:r>
            <a:endParaRPr lang="zh-CN" altLang="en-US" dirty="0"/>
          </a:p>
        </p:txBody>
      </p:sp>
    </p:spTree>
    <p:extLst>
      <p:ext uri="{BB962C8B-B14F-4D97-AF65-F5344CB8AC3E}">
        <p14:creationId xmlns:p14="http://schemas.microsoft.com/office/powerpoint/2010/main" val="1548014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smtClean="0"/>
              <a:t>Relationship Between Reached On Time and Weight in Grams</a:t>
            </a:r>
            <a:endParaRPr lang="zh-CN" alt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0259" y="1496292"/>
            <a:ext cx="11011482" cy="2541318"/>
          </a:xfrm>
        </p:spPr>
      </p:pic>
      <p:sp>
        <p:nvSpPr>
          <p:cNvPr id="6" name="TextBox 5"/>
          <p:cNvSpPr txBox="1"/>
          <p:nvPr/>
        </p:nvSpPr>
        <p:spPr>
          <a:xfrm>
            <a:off x="724395" y="4120737"/>
            <a:ext cx="10468099" cy="92333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This boxplot confirms my point in the previous slide.</a:t>
            </a:r>
          </a:p>
          <a:p>
            <a:pPr marL="285750" indent="-285750">
              <a:buFont typeface="Arial" panose="020B0604020202020204" pitchFamily="34" charset="0"/>
              <a:buChar char="•"/>
            </a:pPr>
            <a:r>
              <a:rPr lang="en-US" altLang="zh-CN" dirty="0" smtClean="0"/>
              <a:t>Products that are delivered on time are the ones weigh more, it might be quantity of these products are relatively so they are usually shipped alone with the more expensive shipping plan.</a:t>
            </a:r>
            <a:endParaRPr lang="zh-CN" altLang="en-US" dirty="0"/>
          </a:p>
        </p:txBody>
      </p:sp>
    </p:spTree>
    <p:extLst>
      <p:ext uri="{BB962C8B-B14F-4D97-AF65-F5344CB8AC3E}">
        <p14:creationId xmlns:p14="http://schemas.microsoft.com/office/powerpoint/2010/main" val="3014281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2800" dirty="0" smtClean="0"/>
              <a:t>Reached On Time Distribution For Warehouse and Shipping Method</a:t>
            </a:r>
            <a:endParaRPr lang="zh-CN" alt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875" y="1407226"/>
            <a:ext cx="5139489" cy="349907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4310" y="1407226"/>
            <a:ext cx="5139489" cy="3499077"/>
          </a:xfrm>
          <a:prstGeom prst="rect">
            <a:avLst/>
          </a:prstGeom>
        </p:spPr>
      </p:pic>
      <p:sp>
        <p:nvSpPr>
          <p:cNvPr id="6" name="TextBox 5"/>
          <p:cNvSpPr txBox="1"/>
          <p:nvPr/>
        </p:nvSpPr>
        <p:spPr>
          <a:xfrm>
            <a:off x="712519" y="5071241"/>
            <a:ext cx="10641280" cy="1754326"/>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From both bar graphs, I can tell the service of products shipment is a general problem in the company.</a:t>
            </a:r>
          </a:p>
          <a:p>
            <a:pPr marL="285750" indent="-285750">
              <a:buFont typeface="Arial" panose="020B0604020202020204" pitchFamily="34" charset="0"/>
              <a:buChar char="•"/>
            </a:pPr>
            <a:r>
              <a:rPr lang="en-US" altLang="zh-CN" dirty="0" smtClean="0"/>
              <a:t>From the marketing perspective, the company should first focus on improving their service to ensure more products are delivered on time to have more customers to stay loyal and generate more revenue.</a:t>
            </a:r>
          </a:p>
          <a:p>
            <a:pPr marL="285750" indent="-285750">
              <a:buFont typeface="Arial" panose="020B0604020202020204" pitchFamily="34" charset="0"/>
              <a:buChar char="•"/>
            </a:pPr>
            <a:r>
              <a:rPr lang="en-US" altLang="zh-CN" dirty="0" smtClean="0"/>
              <a:t>The company should start on improving Warehouse F and Products that use ship to deliver because those two have the biggest quantity in sales, so it should be the focus of the company to improve as soon as possible.</a:t>
            </a:r>
            <a:endParaRPr lang="zh-CN" altLang="en-US" dirty="0"/>
          </a:p>
        </p:txBody>
      </p:sp>
    </p:spTree>
    <p:extLst>
      <p:ext uri="{BB962C8B-B14F-4D97-AF65-F5344CB8AC3E}">
        <p14:creationId xmlns:p14="http://schemas.microsoft.com/office/powerpoint/2010/main" val="9106909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320" y="2300803"/>
            <a:ext cx="10515600" cy="1325563"/>
          </a:xfrm>
        </p:spPr>
        <p:txBody>
          <a:bodyPr/>
          <a:lstStyle/>
          <a:p>
            <a:r>
              <a:rPr lang="en-US" altLang="zh-CN" dirty="0" smtClean="0"/>
              <a:t>Other Graphs</a:t>
            </a:r>
            <a:endParaRPr lang="zh-CN" altLang="en-US" dirty="0"/>
          </a:p>
        </p:txBody>
      </p:sp>
      <p:sp>
        <p:nvSpPr>
          <p:cNvPr id="3" name="Content Placeholder 2"/>
          <p:cNvSpPr>
            <a:spLocks noGrp="1"/>
          </p:cNvSpPr>
          <p:nvPr>
            <p:ph idx="1"/>
          </p:nvPr>
        </p:nvSpPr>
        <p:spPr>
          <a:xfrm>
            <a:off x="636320" y="3761303"/>
            <a:ext cx="10515600" cy="4351338"/>
          </a:xfrm>
        </p:spPr>
        <p:txBody>
          <a:bodyPr/>
          <a:lstStyle/>
          <a:p>
            <a:r>
              <a:rPr lang="en-US" altLang="zh-CN" dirty="0" smtClean="0"/>
              <a:t>I have also plotted other graphs to explore the dataset in depth, but I did not find correlations between those variables.</a:t>
            </a:r>
            <a:endParaRPr lang="zh-CN" altLang="en-US" dirty="0"/>
          </a:p>
        </p:txBody>
      </p:sp>
    </p:spTree>
    <p:extLst>
      <p:ext uri="{BB962C8B-B14F-4D97-AF65-F5344CB8AC3E}">
        <p14:creationId xmlns:p14="http://schemas.microsoft.com/office/powerpoint/2010/main" val="27097773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Other Graphs I </a:t>
            </a:r>
            <a:r>
              <a:rPr lang="en-US" altLang="zh-CN" dirty="0"/>
              <a:t>H</a:t>
            </a:r>
            <a:r>
              <a:rPr lang="en-US" altLang="zh-CN" dirty="0" smtClean="0"/>
              <a:t>ave Plotted</a:t>
            </a:r>
            <a:endParaRPr lang="zh-CN" alt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79089"/>
            <a:ext cx="10515600" cy="2299329"/>
          </a:xfr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25920"/>
            <a:ext cx="12192000" cy="2665889"/>
          </a:xfrm>
          <a:prstGeom prst="rect">
            <a:avLst/>
          </a:prstGeom>
        </p:spPr>
      </p:pic>
    </p:spTree>
    <p:extLst>
      <p:ext uri="{BB962C8B-B14F-4D97-AF65-F5344CB8AC3E}">
        <p14:creationId xmlns:p14="http://schemas.microsoft.com/office/powerpoint/2010/main" val="23340201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Other Graphs I </a:t>
            </a:r>
            <a:r>
              <a:rPr lang="en-US" altLang="zh-CN" dirty="0"/>
              <a:t>H</a:t>
            </a:r>
            <a:r>
              <a:rPr lang="en-US" altLang="zh-CN" dirty="0" smtClean="0"/>
              <a:t>ave Plotted</a:t>
            </a:r>
            <a:endParaRPr lang="zh-CN" alt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78148"/>
            <a:ext cx="10515600" cy="229932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00164"/>
            <a:ext cx="12192000" cy="2665889"/>
          </a:xfrm>
          <a:prstGeom prst="rect">
            <a:avLst/>
          </a:prstGeom>
        </p:spPr>
      </p:pic>
    </p:spTree>
    <p:extLst>
      <p:ext uri="{BB962C8B-B14F-4D97-AF65-F5344CB8AC3E}">
        <p14:creationId xmlns:p14="http://schemas.microsoft.com/office/powerpoint/2010/main" val="2518815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Other Graphs I Have Plotted</a:t>
            </a:r>
            <a:endParaRPr lang="zh-CN" alt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25650"/>
            <a:ext cx="10515600" cy="229932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46725"/>
            <a:ext cx="12192000" cy="2665889"/>
          </a:xfrm>
          <a:prstGeom prst="rect">
            <a:avLst/>
          </a:prstGeom>
        </p:spPr>
      </p:pic>
    </p:spTree>
    <p:extLst>
      <p:ext uri="{BB962C8B-B14F-4D97-AF65-F5344CB8AC3E}">
        <p14:creationId xmlns:p14="http://schemas.microsoft.com/office/powerpoint/2010/main" val="4160468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Other Graphs I Have Plotted</a:t>
            </a:r>
            <a:endParaRPr lang="zh-CN" alt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759099"/>
            <a:ext cx="10515600" cy="229932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058428"/>
            <a:ext cx="12192000" cy="2665889"/>
          </a:xfrm>
          <a:prstGeom prst="rect">
            <a:avLst/>
          </a:prstGeom>
        </p:spPr>
      </p:pic>
    </p:spTree>
    <p:extLst>
      <p:ext uri="{BB962C8B-B14F-4D97-AF65-F5344CB8AC3E}">
        <p14:creationId xmlns:p14="http://schemas.microsoft.com/office/powerpoint/2010/main" val="1764982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smtClean="0"/>
              <a:t>Use Machine Learning Models to Predict Reached On Time</a:t>
            </a:r>
            <a:endParaRPr lang="zh-CN" altLang="en-US" sz="3200" dirty="0"/>
          </a:p>
        </p:txBody>
      </p:sp>
      <p:sp>
        <p:nvSpPr>
          <p:cNvPr id="3" name="Content Placeholder 2"/>
          <p:cNvSpPr>
            <a:spLocks noGrp="1"/>
          </p:cNvSpPr>
          <p:nvPr>
            <p:ph idx="1"/>
          </p:nvPr>
        </p:nvSpPr>
        <p:spPr/>
        <p:txBody>
          <a:bodyPr/>
          <a:lstStyle/>
          <a:p>
            <a:r>
              <a:rPr lang="en-US" altLang="zh-CN" dirty="0" smtClean="0"/>
              <a:t>Utilize all variables to predict whether a product would reach on time</a:t>
            </a:r>
            <a:r>
              <a:rPr lang="zh-CN" altLang="en-US" dirty="0" smtClean="0"/>
              <a:t> </a:t>
            </a:r>
            <a:r>
              <a:rPr lang="en-US" altLang="zh-CN" dirty="0" smtClean="0"/>
              <a:t>(excluding warehouse block, mode of shipment, and gender since they are not statistically significant)</a:t>
            </a:r>
          </a:p>
          <a:p>
            <a:r>
              <a:rPr lang="en-US" altLang="zh-CN" dirty="0" smtClean="0"/>
              <a:t>Train Size: 80%</a:t>
            </a:r>
          </a:p>
          <a:p>
            <a:r>
              <a:rPr lang="en-US" altLang="zh-CN" dirty="0" smtClean="0"/>
              <a:t>Test Size: 20%</a:t>
            </a:r>
          </a:p>
        </p:txBody>
      </p:sp>
    </p:spTree>
    <p:extLst>
      <p:ext uri="{BB962C8B-B14F-4D97-AF65-F5344CB8AC3E}">
        <p14:creationId xmlns:p14="http://schemas.microsoft.com/office/powerpoint/2010/main" val="17807373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Predictions Comparison</a:t>
            </a:r>
            <a:endParaRPr lang="zh-CN" altLang="en-US" dirty="0"/>
          </a:p>
        </p:txBody>
      </p:sp>
      <p:sp>
        <p:nvSpPr>
          <p:cNvPr id="3" name="Content Placeholder 2"/>
          <p:cNvSpPr>
            <a:spLocks noGrp="1"/>
          </p:cNvSpPr>
          <p:nvPr>
            <p:ph idx="1"/>
          </p:nvPr>
        </p:nvSpPr>
        <p:spPr/>
        <p:txBody>
          <a:bodyPr/>
          <a:lstStyle/>
          <a:p>
            <a:r>
              <a:rPr lang="en-US" altLang="zh-CN" dirty="0" smtClean="0"/>
              <a:t>Recall: sensitivity</a:t>
            </a:r>
          </a:p>
          <a:p>
            <a:r>
              <a:rPr lang="en-US" altLang="zh-CN" dirty="0" smtClean="0"/>
              <a:t>F1-score: test performance (weighted average of precision and recall)</a:t>
            </a:r>
          </a:p>
          <a:p>
            <a:r>
              <a:rPr lang="en-US" altLang="zh-CN" dirty="0" smtClean="0"/>
              <a:t>Support: actual occurrences</a:t>
            </a:r>
          </a:p>
          <a:p>
            <a:r>
              <a:rPr lang="en-US" altLang="zh-CN" dirty="0" smtClean="0"/>
              <a:t>Artificial Neural Network has the best performance, but all accuracies are relatively low (might be due to low correlations between variables and small size of data)</a:t>
            </a:r>
            <a:endParaRPr lang="zh-CN" altLang="en-US" dirty="0"/>
          </a:p>
        </p:txBody>
      </p:sp>
      <p:pic>
        <p:nvPicPr>
          <p:cNvPr id="4" name="Picture 3"/>
          <p:cNvPicPr>
            <a:picLocks noChangeAspect="1"/>
          </p:cNvPicPr>
          <p:nvPr/>
        </p:nvPicPr>
        <p:blipFill>
          <a:blip r:embed="rId2"/>
          <a:stretch>
            <a:fillRect/>
          </a:stretch>
        </p:blipFill>
        <p:spPr>
          <a:xfrm>
            <a:off x="83127" y="4682592"/>
            <a:ext cx="3640984" cy="1494372"/>
          </a:xfrm>
          <a:prstGeom prst="rect">
            <a:avLst/>
          </a:prstGeom>
        </p:spPr>
      </p:pic>
      <p:pic>
        <p:nvPicPr>
          <p:cNvPr id="6" name="Picture 5"/>
          <p:cNvPicPr>
            <a:picLocks noChangeAspect="1"/>
          </p:cNvPicPr>
          <p:nvPr/>
        </p:nvPicPr>
        <p:blipFill>
          <a:blip r:embed="rId3"/>
          <a:stretch>
            <a:fillRect/>
          </a:stretch>
        </p:blipFill>
        <p:spPr>
          <a:xfrm>
            <a:off x="8144377" y="4608911"/>
            <a:ext cx="3995999" cy="1634727"/>
          </a:xfrm>
          <a:prstGeom prst="rect">
            <a:avLst/>
          </a:prstGeom>
        </p:spPr>
      </p:pic>
      <p:pic>
        <p:nvPicPr>
          <p:cNvPr id="5" name="Picture 4"/>
          <p:cNvPicPr>
            <a:picLocks noChangeAspect="1"/>
          </p:cNvPicPr>
          <p:nvPr/>
        </p:nvPicPr>
        <p:blipFill>
          <a:blip r:embed="rId4"/>
          <a:stretch>
            <a:fillRect/>
          </a:stretch>
        </p:blipFill>
        <p:spPr>
          <a:xfrm>
            <a:off x="4123525" y="4657822"/>
            <a:ext cx="3690522" cy="1519141"/>
          </a:xfrm>
          <a:prstGeom prst="rect">
            <a:avLst/>
          </a:prstGeom>
        </p:spPr>
      </p:pic>
    </p:spTree>
    <p:extLst>
      <p:ext uri="{BB962C8B-B14F-4D97-AF65-F5344CB8AC3E}">
        <p14:creationId xmlns:p14="http://schemas.microsoft.com/office/powerpoint/2010/main" val="37593986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CN" sz="4800" dirty="0" smtClean="0"/>
              <a:t>Data Science Research Future Plans</a:t>
            </a:r>
            <a:endParaRPr lang="zh-CN" altLang="en-US" sz="4800" dirty="0"/>
          </a:p>
        </p:txBody>
      </p:sp>
    </p:spTree>
    <p:extLst>
      <p:ext uri="{BB962C8B-B14F-4D97-AF65-F5344CB8AC3E}">
        <p14:creationId xmlns:p14="http://schemas.microsoft.com/office/powerpoint/2010/main" val="23788160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Tools I Am Familiar With</a:t>
            </a:r>
            <a:endParaRPr lang="zh-CN" altLang="en-US" dirty="0"/>
          </a:p>
        </p:txBody>
      </p:sp>
      <p:sp>
        <p:nvSpPr>
          <p:cNvPr id="3" name="Content Placeholder 2"/>
          <p:cNvSpPr>
            <a:spLocks noGrp="1"/>
          </p:cNvSpPr>
          <p:nvPr>
            <p:ph idx="1"/>
          </p:nvPr>
        </p:nvSpPr>
        <p:spPr/>
        <p:txBody>
          <a:bodyPr/>
          <a:lstStyle/>
          <a:p>
            <a:r>
              <a:rPr lang="en-US" altLang="zh-CN" dirty="0" smtClean="0"/>
              <a:t>Python</a:t>
            </a:r>
          </a:p>
          <a:p>
            <a:r>
              <a:rPr lang="en-US" altLang="zh-CN" dirty="0" smtClean="0"/>
              <a:t>R</a:t>
            </a:r>
          </a:p>
          <a:p>
            <a:r>
              <a:rPr lang="en-US" altLang="zh-CN" dirty="0" smtClean="0"/>
              <a:t>SQL</a:t>
            </a:r>
          </a:p>
          <a:p>
            <a:r>
              <a:rPr lang="en-US" altLang="zh-CN" dirty="0" smtClean="0"/>
              <a:t>Tableau</a:t>
            </a:r>
          </a:p>
          <a:p>
            <a:r>
              <a:rPr lang="en-US" altLang="zh-CN" dirty="0" smtClean="0"/>
              <a:t>Excel</a:t>
            </a:r>
            <a:endParaRPr lang="zh-CN" altLang="en-US" dirty="0"/>
          </a:p>
        </p:txBody>
      </p:sp>
    </p:spTree>
    <p:extLst>
      <p:ext uri="{BB962C8B-B14F-4D97-AF65-F5344CB8AC3E}">
        <p14:creationId xmlns:p14="http://schemas.microsoft.com/office/powerpoint/2010/main" val="1955373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Analysis I Have Conducted Before</a:t>
            </a:r>
            <a:endParaRPr lang="zh-CN" altLang="en-US" dirty="0"/>
          </a:p>
        </p:txBody>
      </p:sp>
      <p:sp>
        <p:nvSpPr>
          <p:cNvPr id="3" name="Content Placeholder 2"/>
          <p:cNvSpPr>
            <a:spLocks noGrp="1"/>
          </p:cNvSpPr>
          <p:nvPr>
            <p:ph idx="1"/>
          </p:nvPr>
        </p:nvSpPr>
        <p:spPr/>
        <p:txBody>
          <a:bodyPr/>
          <a:lstStyle/>
          <a:p>
            <a:r>
              <a:rPr lang="en-US" altLang="zh-CN" dirty="0" smtClean="0"/>
              <a:t>Data Processing</a:t>
            </a:r>
          </a:p>
          <a:p>
            <a:r>
              <a:rPr lang="en-US" altLang="zh-CN" dirty="0" smtClean="0"/>
              <a:t>Data Analyzing</a:t>
            </a:r>
          </a:p>
          <a:p>
            <a:r>
              <a:rPr lang="en-US" altLang="zh-CN" dirty="0" smtClean="0"/>
              <a:t>Data Visualization</a:t>
            </a:r>
          </a:p>
          <a:p>
            <a:r>
              <a:rPr lang="en-US" altLang="zh-CN" dirty="0" smtClean="0"/>
              <a:t>Time-series Analysis</a:t>
            </a:r>
          </a:p>
          <a:p>
            <a:r>
              <a:rPr lang="en-US" altLang="zh-CN" dirty="0" smtClean="0"/>
              <a:t>Natural Language Processing</a:t>
            </a:r>
          </a:p>
          <a:p>
            <a:r>
              <a:rPr lang="en-US" altLang="zh-CN" dirty="0" smtClean="0"/>
              <a:t>A/B Testing</a:t>
            </a:r>
          </a:p>
          <a:p>
            <a:r>
              <a:rPr lang="en-US" altLang="zh-CN" dirty="0" smtClean="0"/>
              <a:t>Machine Learning</a:t>
            </a:r>
            <a:endParaRPr lang="zh-CN" altLang="en-US" dirty="0"/>
          </a:p>
        </p:txBody>
      </p:sp>
    </p:spTree>
    <p:extLst>
      <p:ext uri="{BB962C8B-B14F-4D97-AF65-F5344CB8AC3E}">
        <p14:creationId xmlns:p14="http://schemas.microsoft.com/office/powerpoint/2010/main" val="1831803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In Progress</a:t>
            </a:r>
            <a:endParaRPr lang="zh-CN" altLang="en-US" dirty="0"/>
          </a:p>
        </p:txBody>
      </p:sp>
      <p:sp>
        <p:nvSpPr>
          <p:cNvPr id="3" name="Content Placeholder 2"/>
          <p:cNvSpPr>
            <a:spLocks noGrp="1"/>
          </p:cNvSpPr>
          <p:nvPr>
            <p:ph idx="1"/>
          </p:nvPr>
        </p:nvSpPr>
        <p:spPr/>
        <p:txBody>
          <a:bodyPr>
            <a:normAutofit/>
          </a:bodyPr>
          <a:lstStyle/>
          <a:p>
            <a:r>
              <a:rPr lang="en-US" altLang="zh-CN" dirty="0"/>
              <a:t>Customer Segmentation</a:t>
            </a:r>
          </a:p>
          <a:p>
            <a:pPr lvl="1"/>
            <a:r>
              <a:rPr lang="en-US" altLang="zh-CN" dirty="0"/>
              <a:t>“Customer segmentation is the </a:t>
            </a:r>
            <a:r>
              <a:rPr lang="en-US" altLang="zh-CN" b="1" dirty="0"/>
              <a:t>practice of dividing a company's customers into groups that reflect similarity among customers in each group</a:t>
            </a:r>
            <a:r>
              <a:rPr lang="en-US" altLang="zh-CN" dirty="0"/>
              <a:t>. The goal of segmenting customers is to decide how to relate to customers in each segment in order to maximize the value of each customer to the business.”</a:t>
            </a:r>
          </a:p>
          <a:p>
            <a:pPr lvl="1"/>
            <a:r>
              <a:rPr lang="en-US" altLang="zh-CN" dirty="0"/>
              <a:t>Implement </a:t>
            </a:r>
            <a:r>
              <a:rPr lang="en-US" altLang="zh-CN" dirty="0" smtClean="0"/>
              <a:t>RFM (Recency, Frequency, Monetary) </a:t>
            </a:r>
            <a:r>
              <a:rPr lang="en-US" altLang="zh-CN" dirty="0"/>
              <a:t>and uses machine </a:t>
            </a:r>
            <a:r>
              <a:rPr lang="en-US" altLang="zh-CN" dirty="0" smtClean="0"/>
              <a:t>learning</a:t>
            </a:r>
          </a:p>
          <a:p>
            <a:pPr lvl="1"/>
            <a:r>
              <a:rPr lang="en-US" altLang="zh-CN" dirty="0" smtClean="0"/>
              <a:t>Trying to categorize customers into 6 groups based on their loyalty, and practice designing new response strategies to target each customer group</a:t>
            </a:r>
            <a:endParaRPr lang="en-US" altLang="zh-CN" dirty="0"/>
          </a:p>
          <a:p>
            <a:endParaRPr lang="zh-CN" altLang="en-US" dirty="0"/>
          </a:p>
        </p:txBody>
      </p:sp>
    </p:spTree>
    <p:extLst>
      <p:ext uri="{BB962C8B-B14F-4D97-AF65-F5344CB8AC3E}">
        <p14:creationId xmlns:p14="http://schemas.microsoft.com/office/powerpoint/2010/main" val="2200108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Future Plans</a:t>
            </a:r>
            <a:endParaRPr lang="zh-CN" altLang="en-US" dirty="0"/>
          </a:p>
        </p:txBody>
      </p:sp>
      <p:sp>
        <p:nvSpPr>
          <p:cNvPr id="3" name="Content Placeholder 2"/>
          <p:cNvSpPr>
            <a:spLocks noGrp="1"/>
          </p:cNvSpPr>
          <p:nvPr>
            <p:ph idx="1"/>
          </p:nvPr>
        </p:nvSpPr>
        <p:spPr/>
        <p:txBody>
          <a:bodyPr>
            <a:normAutofit/>
          </a:bodyPr>
          <a:lstStyle/>
          <a:p>
            <a:r>
              <a:rPr lang="en-US" altLang="zh-CN" dirty="0" smtClean="0"/>
              <a:t>Work on e-commerce data found on </a:t>
            </a:r>
            <a:r>
              <a:rPr lang="en-US" altLang="zh-CN" dirty="0" err="1"/>
              <a:t>K</a:t>
            </a:r>
            <a:r>
              <a:rPr lang="en-US" altLang="zh-CN" dirty="0" err="1" smtClean="0"/>
              <a:t>aggle</a:t>
            </a:r>
            <a:r>
              <a:rPr lang="en-US" altLang="zh-CN" dirty="0" smtClean="0"/>
              <a:t> </a:t>
            </a:r>
            <a:r>
              <a:rPr lang="en-US" altLang="zh-CN" dirty="0" smtClean="0"/>
              <a:t>and other websites (preferred to have 100,000 to 1,000,000 data)</a:t>
            </a:r>
          </a:p>
          <a:p>
            <a:r>
              <a:rPr lang="en-US" altLang="zh-CN" dirty="0" smtClean="0"/>
              <a:t>Improve my ability in interpreting the dataset as well as the results of analysis to help business grows in a marketing perspective</a:t>
            </a:r>
          </a:p>
        </p:txBody>
      </p:sp>
    </p:spTree>
    <p:extLst>
      <p:ext uri="{BB962C8B-B14F-4D97-AF65-F5344CB8AC3E}">
        <p14:creationId xmlns:p14="http://schemas.microsoft.com/office/powerpoint/2010/main" val="1207362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Feature Engineering</a:t>
            </a:r>
            <a:endParaRPr lang="zh-CN" altLang="en-US" dirty="0"/>
          </a:p>
        </p:txBody>
      </p:sp>
      <p:sp>
        <p:nvSpPr>
          <p:cNvPr id="3" name="Content Placeholder 2"/>
          <p:cNvSpPr>
            <a:spLocks noGrp="1"/>
          </p:cNvSpPr>
          <p:nvPr>
            <p:ph idx="1"/>
          </p:nvPr>
        </p:nvSpPr>
        <p:spPr/>
        <p:txBody>
          <a:bodyPr/>
          <a:lstStyle/>
          <a:p>
            <a:r>
              <a:rPr lang="en-US" altLang="zh-CN" dirty="0" smtClean="0"/>
              <a:t>“</a:t>
            </a:r>
            <a:r>
              <a:rPr lang="en-US" altLang="zh-CN" dirty="0"/>
              <a:t>Feature engineering is the process of using domain knowledge to extract features from raw data. A feature is a property shared by independent units on which analysis or prediction is to be done. Features are used by predictive models and influence results.”</a:t>
            </a:r>
          </a:p>
          <a:p>
            <a:r>
              <a:rPr lang="en-US" altLang="zh-CN" dirty="0"/>
              <a:t>A predictive model that uses machine learning and statistical modeling to find most relevant characteristics within a dataset</a:t>
            </a:r>
          </a:p>
          <a:p>
            <a:endParaRPr lang="zh-CN" altLang="en-US" dirty="0"/>
          </a:p>
        </p:txBody>
      </p:sp>
    </p:spTree>
    <p:extLst>
      <p:ext uri="{BB962C8B-B14F-4D97-AF65-F5344CB8AC3E}">
        <p14:creationId xmlns:p14="http://schemas.microsoft.com/office/powerpoint/2010/main" val="1890615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Sales Prediction</a:t>
            </a:r>
            <a:endParaRPr lang="zh-CN" altLang="en-US" dirty="0"/>
          </a:p>
        </p:txBody>
      </p:sp>
      <p:sp>
        <p:nvSpPr>
          <p:cNvPr id="3" name="Content Placeholder 2"/>
          <p:cNvSpPr>
            <a:spLocks noGrp="1"/>
          </p:cNvSpPr>
          <p:nvPr>
            <p:ph idx="1"/>
          </p:nvPr>
        </p:nvSpPr>
        <p:spPr/>
        <p:txBody>
          <a:bodyPr/>
          <a:lstStyle/>
          <a:p>
            <a:r>
              <a:rPr lang="en-US" altLang="zh-CN" dirty="0" smtClean="0"/>
              <a:t>After </a:t>
            </a:r>
            <a:r>
              <a:rPr lang="en-US" altLang="zh-CN" dirty="0"/>
              <a:t>processing the data, we use machine learning techniques to train different models to make predictions for future customer purchases to grow the business and generate more revenue</a:t>
            </a:r>
          </a:p>
          <a:p>
            <a:endParaRPr lang="zh-CN" altLang="en-US" dirty="0"/>
          </a:p>
        </p:txBody>
      </p:sp>
    </p:spTree>
    <p:extLst>
      <p:ext uri="{BB962C8B-B14F-4D97-AF65-F5344CB8AC3E}">
        <p14:creationId xmlns:p14="http://schemas.microsoft.com/office/powerpoint/2010/main" val="1107605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Recommender System</a:t>
            </a:r>
            <a:endParaRPr lang="zh-CN" altLang="en-US" dirty="0"/>
          </a:p>
        </p:txBody>
      </p:sp>
      <p:sp>
        <p:nvSpPr>
          <p:cNvPr id="3" name="Content Placeholder 2"/>
          <p:cNvSpPr>
            <a:spLocks noGrp="1"/>
          </p:cNvSpPr>
          <p:nvPr>
            <p:ph idx="1"/>
          </p:nvPr>
        </p:nvSpPr>
        <p:spPr/>
        <p:txBody>
          <a:bodyPr/>
          <a:lstStyle/>
          <a:p>
            <a:r>
              <a:rPr lang="en-US" altLang="zh-CN" dirty="0" smtClean="0"/>
              <a:t>In the age of Exabyte, e-commerce companies utilize large amount data generated by customers to create a filtering system that would predict customers’ behaviors</a:t>
            </a:r>
          </a:p>
          <a:p>
            <a:r>
              <a:rPr lang="en-US" altLang="zh-CN" dirty="0" smtClean="0"/>
              <a:t>Used to recommend products, landing pages, or promotions to customers to increase conversion rates</a:t>
            </a:r>
            <a:endParaRPr lang="zh-CN" altLang="en-US" dirty="0"/>
          </a:p>
        </p:txBody>
      </p:sp>
    </p:spTree>
    <p:extLst>
      <p:ext uri="{BB962C8B-B14F-4D97-AF65-F5344CB8AC3E}">
        <p14:creationId xmlns:p14="http://schemas.microsoft.com/office/powerpoint/2010/main" val="2941386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1330</Words>
  <Application>Microsoft Office PowerPoint</Application>
  <PresentationFormat>Widescreen</PresentationFormat>
  <Paragraphs>111</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宋体</vt:lpstr>
      <vt:lpstr>Arial</vt:lpstr>
      <vt:lpstr>Calibri</vt:lpstr>
      <vt:lpstr>Calibri Light</vt:lpstr>
      <vt:lpstr>Office Theme</vt:lpstr>
      <vt:lpstr>Data Science Research</vt:lpstr>
      <vt:lpstr>Data Description</vt:lpstr>
      <vt:lpstr>Countplot For Categorical Variable</vt:lpstr>
      <vt:lpstr>Summary of the Countplot</vt:lpstr>
      <vt:lpstr>Distribution Plot of Numerical Variables</vt:lpstr>
      <vt:lpstr>Summary of the Distribution Plot</vt:lpstr>
      <vt:lpstr>Variable Correlation Heat Map</vt:lpstr>
      <vt:lpstr>Relationship Between Cost of Product and Customer Care Calls</vt:lpstr>
      <vt:lpstr>Relationship Between Prior Purchases and Customer Care Calls</vt:lpstr>
      <vt:lpstr>Relationship Between Weights in Gram and Customer Care Calls</vt:lpstr>
      <vt:lpstr>Relationship Between Discount Offered and Weights in Grams</vt:lpstr>
      <vt:lpstr>Relationship Between Discount Offered and Cost of the Product</vt:lpstr>
      <vt:lpstr>Relationship Between Reached On Time and Discount Offered</vt:lpstr>
      <vt:lpstr>Relationship Between Reached On Time and Weight in Grams</vt:lpstr>
      <vt:lpstr>Reached On Time Distribution For Warehouse and Shipping Method</vt:lpstr>
      <vt:lpstr>Other Graphs</vt:lpstr>
      <vt:lpstr>Other Graphs I Have Plotted</vt:lpstr>
      <vt:lpstr>Other Graphs I Have Plotted</vt:lpstr>
      <vt:lpstr>Other Graphs I Have Plotted</vt:lpstr>
      <vt:lpstr>Other Graphs I Have Plotted</vt:lpstr>
      <vt:lpstr>Use Machine Learning Models to Predict Reached On Time</vt:lpstr>
      <vt:lpstr>Predictions Comparison</vt:lpstr>
      <vt:lpstr>Data Science Research Future Plans</vt:lpstr>
      <vt:lpstr>Tools I Am Familiar With</vt:lpstr>
      <vt:lpstr>Analysis I Have Conducted Before</vt:lpstr>
      <vt:lpstr>In Progress</vt:lpstr>
      <vt:lpstr>Future Plans</vt:lpstr>
      <vt:lpstr>Feature Engineering</vt:lpstr>
      <vt:lpstr>Sales Prediction</vt:lpstr>
      <vt:lpstr>Recommender System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Shipping Data</dc:title>
  <dc:creator>Microsoft account</dc:creator>
  <cp:lastModifiedBy>Microsoft account</cp:lastModifiedBy>
  <cp:revision>75</cp:revision>
  <dcterms:created xsi:type="dcterms:W3CDTF">2021-10-24T04:49:14Z</dcterms:created>
  <dcterms:modified xsi:type="dcterms:W3CDTF">2021-11-01T15:25:00Z</dcterms:modified>
</cp:coreProperties>
</file>